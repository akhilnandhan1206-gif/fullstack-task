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6" r:id="rId14"/>
    <p:sldId id="269" r:id="rId15"/>
    <p:sldId id="268"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5DCA08-2C29-4C3C-B9D3-E11671030D70}" v="4" dt="2026-03-25T03:39:03.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25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hilnandhan1206@gmail.com" userId="c6aa3ccd48eb9660" providerId="LiveId" clId="{AB66D2B8-E85D-413F-903C-E2D0459B79EF}"/>
    <pc:docChg chg="undo custSel delSld modSld">
      <pc:chgData name="akhilnandhan1206@gmail.com" userId="c6aa3ccd48eb9660" providerId="LiveId" clId="{AB66D2B8-E85D-413F-903C-E2D0459B79EF}" dt="2026-03-25T03:57:01.952" v="161" actId="1076"/>
      <pc:docMkLst>
        <pc:docMk/>
      </pc:docMkLst>
      <pc:sldChg chg="addSp delSp modSp mod">
        <pc:chgData name="akhilnandhan1206@gmail.com" userId="c6aa3ccd48eb9660" providerId="LiveId" clId="{AB66D2B8-E85D-413F-903C-E2D0459B79EF}" dt="2026-03-25T03:49:49.694" v="158" actId="14100"/>
        <pc:sldMkLst>
          <pc:docMk/>
          <pc:sldMk cId="0" sldId="256"/>
        </pc:sldMkLst>
        <pc:spChg chg="mod">
          <ac:chgData name="akhilnandhan1206@gmail.com" userId="c6aa3ccd48eb9660" providerId="LiveId" clId="{AB66D2B8-E85D-413F-903C-E2D0459B79EF}" dt="2026-03-25T03:49:49.694" v="158" actId="14100"/>
          <ac:spMkLst>
            <pc:docMk/>
            <pc:sldMk cId="0" sldId="256"/>
            <ac:spMk id="15" creationId="{6FF32D1A-2F9C-AC53-CCBD-ABF748DF236F}"/>
          </ac:spMkLst>
        </pc:spChg>
        <pc:spChg chg="add del mod">
          <ac:chgData name="akhilnandhan1206@gmail.com" userId="c6aa3ccd48eb9660" providerId="LiveId" clId="{AB66D2B8-E85D-413F-903C-E2D0459B79EF}" dt="2026-03-25T03:40:27.933" v="109" actId="14100"/>
          <ac:spMkLst>
            <pc:docMk/>
            <pc:sldMk cId="0" sldId="256"/>
            <ac:spMk id="16" creationId="{A7AA51DE-E8D7-A1B4-BC0D-B25C8A0C467A}"/>
          </ac:spMkLst>
        </pc:spChg>
      </pc:sldChg>
      <pc:sldChg chg="modSp mod">
        <pc:chgData name="akhilnandhan1206@gmail.com" userId="c6aa3ccd48eb9660" providerId="LiveId" clId="{AB66D2B8-E85D-413F-903C-E2D0459B79EF}" dt="2026-03-25T03:41:03.018" v="110" actId="20577"/>
        <pc:sldMkLst>
          <pc:docMk/>
          <pc:sldMk cId="0" sldId="259"/>
        </pc:sldMkLst>
        <pc:spChg chg="mod">
          <ac:chgData name="akhilnandhan1206@gmail.com" userId="c6aa3ccd48eb9660" providerId="LiveId" clId="{AB66D2B8-E85D-413F-903C-E2D0459B79EF}" dt="2026-03-25T03:41:03.018" v="110" actId="20577"/>
          <ac:spMkLst>
            <pc:docMk/>
            <pc:sldMk cId="0" sldId="259"/>
            <ac:spMk id="52" creationId="{056A0A3A-1541-5EC0-5370-02DA282ABDDE}"/>
          </ac:spMkLst>
        </pc:spChg>
      </pc:sldChg>
      <pc:sldChg chg="modSp mod">
        <pc:chgData name="akhilnandhan1206@gmail.com" userId="c6aa3ccd48eb9660" providerId="LiveId" clId="{AB66D2B8-E85D-413F-903C-E2D0459B79EF}" dt="2026-03-25T03:41:52.875" v="114" actId="732"/>
        <pc:sldMkLst>
          <pc:docMk/>
          <pc:sldMk cId="0" sldId="261"/>
        </pc:sldMkLst>
        <pc:picChg chg="mod modCrop">
          <ac:chgData name="akhilnandhan1206@gmail.com" userId="c6aa3ccd48eb9660" providerId="LiveId" clId="{AB66D2B8-E85D-413F-903C-E2D0459B79EF}" dt="2026-03-25T03:41:52.875" v="114" actId="732"/>
          <ac:picMkLst>
            <pc:docMk/>
            <pc:sldMk cId="0" sldId="261"/>
            <ac:picMk id="44" creationId="{E9CEBEA4-59FC-44DF-5669-3A470806C706}"/>
          </ac:picMkLst>
        </pc:picChg>
      </pc:sldChg>
      <pc:sldChg chg="modSp mod">
        <pc:chgData name="akhilnandhan1206@gmail.com" userId="c6aa3ccd48eb9660" providerId="LiveId" clId="{AB66D2B8-E85D-413F-903C-E2D0459B79EF}" dt="2026-03-25T03:48:08.938" v="119" actId="14100"/>
        <pc:sldMkLst>
          <pc:docMk/>
          <pc:sldMk cId="0" sldId="262"/>
        </pc:sldMkLst>
        <pc:picChg chg="mod modCrop">
          <ac:chgData name="akhilnandhan1206@gmail.com" userId="c6aa3ccd48eb9660" providerId="LiveId" clId="{AB66D2B8-E85D-413F-903C-E2D0459B79EF}" dt="2026-03-25T03:48:08.938" v="119" actId="14100"/>
          <ac:picMkLst>
            <pc:docMk/>
            <pc:sldMk cId="0" sldId="262"/>
            <ac:picMk id="10" creationId="{AD442165-FF05-A36F-5C53-C7537C7223AC}"/>
          </ac:picMkLst>
        </pc:picChg>
      </pc:sldChg>
      <pc:sldChg chg="modSp mod">
        <pc:chgData name="akhilnandhan1206@gmail.com" userId="c6aa3ccd48eb9660" providerId="LiveId" clId="{AB66D2B8-E85D-413F-903C-E2D0459B79EF}" dt="2026-03-25T03:56:48.100" v="160" actId="1035"/>
        <pc:sldMkLst>
          <pc:docMk/>
          <pc:sldMk cId="1998101144" sldId="266"/>
        </pc:sldMkLst>
        <pc:picChg chg="mod">
          <ac:chgData name="akhilnandhan1206@gmail.com" userId="c6aa3ccd48eb9660" providerId="LiveId" clId="{AB66D2B8-E85D-413F-903C-E2D0459B79EF}" dt="2026-03-25T03:56:48.100" v="160" actId="1035"/>
          <ac:picMkLst>
            <pc:docMk/>
            <pc:sldMk cId="1998101144" sldId="266"/>
            <ac:picMk id="6" creationId="{4E641B31-F074-4A08-0074-9CF0B4CDF7EB}"/>
          </ac:picMkLst>
        </pc:picChg>
      </pc:sldChg>
      <pc:sldChg chg="delSp del mod">
        <pc:chgData name="akhilnandhan1206@gmail.com" userId="c6aa3ccd48eb9660" providerId="LiveId" clId="{AB66D2B8-E85D-413F-903C-E2D0459B79EF}" dt="2026-03-25T03:34:05.963" v="37" actId="2696"/>
        <pc:sldMkLst>
          <pc:docMk/>
          <pc:sldMk cId="47544820" sldId="267"/>
        </pc:sldMkLst>
        <pc:spChg chg="del">
          <ac:chgData name="akhilnandhan1206@gmail.com" userId="c6aa3ccd48eb9660" providerId="LiveId" clId="{AB66D2B8-E85D-413F-903C-E2D0459B79EF}" dt="2026-03-25T03:33:55.059" v="36" actId="21"/>
          <ac:spMkLst>
            <pc:docMk/>
            <pc:sldMk cId="47544820" sldId="267"/>
            <ac:spMk id="40" creationId="{010017BD-BEFD-7D20-F8D8-CCAAE240B4AA}"/>
          </ac:spMkLst>
        </pc:spChg>
      </pc:sldChg>
      <pc:sldChg chg="addSp delSp modSp mod">
        <pc:chgData name="akhilnandhan1206@gmail.com" userId="c6aa3ccd48eb9660" providerId="LiveId" clId="{AB66D2B8-E85D-413F-903C-E2D0459B79EF}" dt="2026-03-25T03:34:56.495" v="49" actId="14100"/>
        <pc:sldMkLst>
          <pc:docMk/>
          <pc:sldMk cId="84889951" sldId="268"/>
        </pc:sldMkLst>
        <pc:spChg chg="del mod">
          <ac:chgData name="akhilnandhan1206@gmail.com" userId="c6aa3ccd48eb9660" providerId="LiveId" clId="{AB66D2B8-E85D-413F-903C-E2D0459B79EF}" dt="2026-03-25T03:34:25.056" v="43"/>
          <ac:spMkLst>
            <pc:docMk/>
            <pc:sldMk cId="84889951" sldId="268"/>
            <ac:spMk id="39" creationId="{651DFEFA-4858-B395-2271-B7ED1D62BBAC}"/>
          </ac:spMkLst>
        </pc:spChg>
        <pc:picChg chg="add mod">
          <ac:chgData name="akhilnandhan1206@gmail.com" userId="c6aa3ccd48eb9660" providerId="LiveId" clId="{AB66D2B8-E85D-413F-903C-E2D0459B79EF}" dt="2026-03-25T03:34:56.495" v="49" actId="14100"/>
          <ac:picMkLst>
            <pc:docMk/>
            <pc:sldMk cId="84889951" sldId="268"/>
            <ac:picMk id="2" creationId="{C74F774D-04D4-E3BA-C81A-3C8972AAF82B}"/>
          </ac:picMkLst>
        </pc:picChg>
        <pc:picChg chg="del">
          <ac:chgData name="akhilnandhan1206@gmail.com" userId="c6aa3ccd48eb9660" providerId="LiveId" clId="{AB66D2B8-E85D-413F-903C-E2D0459B79EF}" dt="2026-03-25T03:34:16.089" v="38" actId="21"/>
          <ac:picMkLst>
            <pc:docMk/>
            <pc:sldMk cId="84889951" sldId="268"/>
            <ac:picMk id="3" creationId="{313ED8C2-EEBD-EB50-B859-4E192B064307}"/>
          </ac:picMkLst>
        </pc:picChg>
        <pc:picChg chg="add mod">
          <ac:chgData name="akhilnandhan1206@gmail.com" userId="c6aa3ccd48eb9660" providerId="LiveId" clId="{AB66D2B8-E85D-413F-903C-E2D0459B79EF}" dt="2026-03-25T03:34:50.326" v="47" actId="1076"/>
          <ac:picMkLst>
            <pc:docMk/>
            <pc:sldMk cId="84889951" sldId="268"/>
            <ac:picMk id="4" creationId="{180FA219-9AF6-8F9F-A872-AB007E7F3B23}"/>
          </ac:picMkLst>
        </pc:picChg>
        <pc:picChg chg="del">
          <ac:chgData name="akhilnandhan1206@gmail.com" userId="c6aa3ccd48eb9660" providerId="LiveId" clId="{AB66D2B8-E85D-413F-903C-E2D0459B79EF}" dt="2026-03-25T03:34:25.036" v="41" actId="21"/>
          <ac:picMkLst>
            <pc:docMk/>
            <pc:sldMk cId="84889951" sldId="268"/>
            <ac:picMk id="5" creationId="{E01DC3DC-273D-B484-31E3-1A788D0D3A3C}"/>
          </ac:picMkLst>
        </pc:picChg>
        <pc:picChg chg="del">
          <ac:chgData name="akhilnandhan1206@gmail.com" userId="c6aa3ccd48eb9660" providerId="LiveId" clId="{AB66D2B8-E85D-413F-903C-E2D0459B79EF}" dt="2026-03-25T03:34:18.526" v="39" actId="21"/>
          <ac:picMkLst>
            <pc:docMk/>
            <pc:sldMk cId="84889951" sldId="268"/>
            <ac:picMk id="38" creationId="{DCF53BF4-7E90-57B0-5DB9-345E41BD60B0}"/>
          </ac:picMkLst>
        </pc:picChg>
      </pc:sldChg>
      <pc:sldChg chg="addSp delSp modSp mod">
        <pc:chgData name="akhilnandhan1206@gmail.com" userId="c6aa3ccd48eb9660" providerId="LiveId" clId="{AB66D2B8-E85D-413F-903C-E2D0459B79EF}" dt="2026-03-25T03:57:01.952" v="161" actId="1076"/>
        <pc:sldMkLst>
          <pc:docMk/>
          <pc:sldMk cId="3981187392" sldId="269"/>
        </pc:sldMkLst>
        <pc:spChg chg="del mod">
          <ac:chgData name="akhilnandhan1206@gmail.com" userId="c6aa3ccd48eb9660" providerId="LiveId" clId="{AB66D2B8-E85D-413F-903C-E2D0459B79EF}" dt="2026-03-25T03:30:01.008" v="21"/>
          <ac:spMkLst>
            <pc:docMk/>
            <pc:sldMk cId="3981187392" sldId="269"/>
            <ac:spMk id="39" creationId="{A4BFA958-6F7C-9EE7-D250-613017ED6968}"/>
          </ac:spMkLst>
        </pc:spChg>
        <pc:picChg chg="add del mod">
          <ac:chgData name="akhilnandhan1206@gmail.com" userId="c6aa3ccd48eb9660" providerId="LiveId" clId="{AB66D2B8-E85D-413F-903C-E2D0459B79EF}" dt="2026-03-25T03:27:59.116" v="2" actId="21"/>
          <ac:picMkLst>
            <pc:docMk/>
            <pc:sldMk cId="3981187392" sldId="269"/>
            <ac:picMk id="2" creationId="{5AA3D950-3903-042F-95E6-5DC10A1550A9}"/>
          </ac:picMkLst>
        </pc:picChg>
        <pc:picChg chg="del">
          <ac:chgData name="akhilnandhan1206@gmail.com" userId="c6aa3ccd48eb9660" providerId="LiveId" clId="{AB66D2B8-E85D-413F-903C-E2D0459B79EF}" dt="2026-03-25T03:27:54.315" v="0" actId="21"/>
          <ac:picMkLst>
            <pc:docMk/>
            <pc:sldMk cId="3981187392" sldId="269"/>
            <ac:picMk id="3" creationId="{5AA3D950-3903-042F-95E6-5DC10A1550A9}"/>
          </ac:picMkLst>
        </pc:picChg>
        <pc:picChg chg="del">
          <ac:chgData name="akhilnandhan1206@gmail.com" userId="c6aa3ccd48eb9660" providerId="LiveId" clId="{AB66D2B8-E85D-413F-903C-E2D0459B79EF}" dt="2026-03-25T03:28:22.876" v="6" actId="21"/>
          <ac:picMkLst>
            <pc:docMk/>
            <pc:sldMk cId="3981187392" sldId="269"/>
            <ac:picMk id="5" creationId="{A8D1879B-A2A8-6CEC-A646-014D59CE0BE0}"/>
          </ac:picMkLst>
        </pc:picChg>
        <pc:picChg chg="add mod">
          <ac:chgData name="akhilnandhan1206@gmail.com" userId="c6aa3ccd48eb9660" providerId="LiveId" clId="{AB66D2B8-E85D-413F-903C-E2D0459B79EF}" dt="2026-03-25T03:57:01.952" v="161" actId="1076"/>
          <ac:picMkLst>
            <pc:docMk/>
            <pc:sldMk cId="3981187392" sldId="269"/>
            <ac:picMk id="6" creationId="{B9C032DF-B7FF-6C63-F8DA-7D3944169768}"/>
          </ac:picMkLst>
        </pc:picChg>
        <pc:picChg chg="del">
          <ac:chgData name="akhilnandhan1206@gmail.com" userId="c6aa3ccd48eb9660" providerId="LiveId" clId="{AB66D2B8-E85D-413F-903C-E2D0459B79EF}" dt="2026-03-25T03:29:45.996" v="17" actId="21"/>
          <ac:picMkLst>
            <pc:docMk/>
            <pc:sldMk cId="3981187392" sldId="269"/>
            <ac:picMk id="38" creationId="{F6438B40-6D6F-7A29-9B19-646F64F51A5A}"/>
          </ac:picMkLst>
        </pc:picChg>
        <pc:picChg chg="add mod">
          <ac:chgData name="akhilnandhan1206@gmail.com" userId="c6aa3ccd48eb9660" providerId="LiveId" clId="{AB66D2B8-E85D-413F-903C-E2D0459B79EF}" dt="2026-03-25T03:35:12.128" v="53" actId="1076"/>
          <ac:picMkLst>
            <pc:docMk/>
            <pc:sldMk cId="3981187392" sldId="269"/>
            <ac:picMk id="41" creationId="{10FE0ED7-708C-DB3A-1B07-8F56C3388DB7}"/>
          </ac:picMkLst>
        </pc:picChg>
        <pc:picChg chg="add del mod">
          <ac:chgData name="akhilnandhan1206@gmail.com" userId="c6aa3ccd48eb9660" providerId="LiveId" clId="{AB66D2B8-E85D-413F-903C-E2D0459B79EF}" dt="2026-03-25T03:35:02.702" v="50" actId="21"/>
          <ac:picMkLst>
            <pc:docMk/>
            <pc:sldMk cId="3981187392" sldId="269"/>
            <ac:picMk id="44" creationId="{C2DDE346-7927-E6B4-2971-A5AF7A9043F1}"/>
          </ac:picMkLst>
        </pc:picChg>
        <pc:picChg chg="add del mod">
          <ac:chgData name="akhilnandhan1206@gmail.com" userId="c6aa3ccd48eb9660" providerId="LiveId" clId="{AB66D2B8-E85D-413F-903C-E2D0459B79EF}" dt="2026-03-25T03:35:05.808" v="51" actId="21"/>
          <ac:picMkLst>
            <pc:docMk/>
            <pc:sldMk cId="3981187392" sldId="269"/>
            <ac:picMk id="46" creationId="{42508797-B179-D017-AE9E-CB690A1DECF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t>Dynamic Online Examination &amp; Result Processing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99060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T.Akhil</a:t>
            </a:r>
            <a:r>
              <a:rPr lang="en-US" sz="3000" dirty="0">
                <a:latin typeface="Cambria" panose="02040503050406030204" pitchFamily="18" charset="0"/>
                <a:ea typeface="Cambria" panose="02040503050406030204" pitchFamily="18" charset="0"/>
              </a:rPr>
              <a:t> Nandhan – VTU25836 – 23UECS0560</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677400" y="7770525"/>
            <a:ext cx="81338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Sumithra M. – ASSISTANT PROFESSOR(SG)</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4953000" y="7006544"/>
            <a:ext cx="922020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4,8 – </a:t>
            </a:r>
            <a:r>
              <a:rPr lang="en-IN" sz="2000" b="1" dirty="0"/>
              <a:t>Quality Education</a:t>
            </a:r>
            <a:r>
              <a:rPr lang="en-IN" b="1" dirty="0"/>
              <a:t>,</a:t>
            </a:r>
            <a:r>
              <a:rPr lang="en-US" b="1" dirty="0"/>
              <a:t> </a:t>
            </a:r>
            <a:r>
              <a:rPr lang="en-US" sz="2000" b="1" dirty="0">
                <a:latin typeface="Cambria" panose="02040503050406030204" pitchFamily="18" charset="0"/>
                <a:ea typeface="Cambria" panose="02040503050406030204" pitchFamily="18" charset="0"/>
              </a:rPr>
              <a:t>Decent Work and Economic Growth</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653141" y="1405007"/>
            <a:ext cx="16039212" cy="14311610"/>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dirty="0"/>
              <a:t>The </a:t>
            </a:r>
            <a:r>
              <a:rPr lang="en-US" sz="2800" b="1" dirty="0"/>
              <a:t>Online Exam System</a:t>
            </a:r>
            <a:r>
              <a:rPr lang="en-US" sz="2800" dirty="0"/>
              <a:t> is a web-based application for conducting exams digitally.</a:t>
            </a:r>
            <a:endParaRPr lang="en-US" sz="2800" b="1" dirty="0"/>
          </a:p>
          <a:p>
            <a:pPr marL="457200" indent="-457200" algn="just">
              <a:buFont typeface="Wingdings" panose="05000000000000000000" pitchFamily="2" charset="2"/>
              <a:buChar char="q"/>
            </a:pPr>
            <a:endParaRPr lang="en-US" sz="2800" b="1"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800" dirty="0"/>
              <a:t>It eliminates the need for traditional </a:t>
            </a:r>
            <a:r>
              <a:rPr lang="en-US" sz="2800" b="1" dirty="0"/>
              <a:t>paper-based examinations</a:t>
            </a:r>
          </a:p>
          <a:p>
            <a:pPr marL="457200" indent="-457200" algn="just">
              <a:buFont typeface="Wingdings" panose="05000000000000000000" pitchFamily="2" charset="2"/>
              <a:buChar char="q"/>
            </a:pPr>
            <a:endParaRPr lang="en-US" sz="28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800" dirty="0"/>
              <a:t>Students can take exams </a:t>
            </a:r>
            <a:r>
              <a:rPr lang="en-US" sz="2800" b="1" dirty="0"/>
              <a:t>anytime and anywhere</a:t>
            </a:r>
            <a:r>
              <a:rPr lang="en-US" sz="2800" dirty="0"/>
              <a:t> using a web browser.</a:t>
            </a:r>
          </a:p>
          <a:p>
            <a:pPr marL="457200" indent="-457200" algn="just">
              <a:buFont typeface="Wingdings" panose="05000000000000000000" pitchFamily="2" charset="2"/>
              <a:buChar char="q"/>
            </a:pPr>
            <a:endParaRPr lang="en-US" sz="28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800" dirty="0"/>
              <a:t>The system provides </a:t>
            </a:r>
            <a:r>
              <a:rPr lang="en-US" sz="2800" b="1" dirty="0"/>
              <a:t>secure login and user authentication</a:t>
            </a:r>
            <a:r>
              <a:rPr lang="en-US" sz="2800" dirty="0"/>
              <a:t>.</a:t>
            </a:r>
          </a:p>
          <a:p>
            <a:pPr marL="457200" indent="-457200" algn="just">
              <a:buFont typeface="Wingdings" panose="05000000000000000000" pitchFamily="2" charset="2"/>
              <a:buChar char="q"/>
            </a:pPr>
            <a:endParaRPr lang="en-US" sz="28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800" dirty="0"/>
              <a:t>It includes features like </a:t>
            </a:r>
            <a:r>
              <a:rPr lang="en-US" sz="2800" b="1" dirty="0"/>
              <a:t>question management, timer-based exams, and automatic evaluation</a:t>
            </a:r>
            <a:r>
              <a:rPr lang="en-US" sz="2800" dirty="0"/>
              <a:t>.</a:t>
            </a:r>
          </a:p>
          <a:p>
            <a:pPr marL="457200" indent="-457200" algn="just">
              <a:buFont typeface="Wingdings" panose="05000000000000000000" pitchFamily="2" charset="2"/>
              <a:buChar char="q"/>
            </a:pPr>
            <a:endParaRPr lang="en-US" sz="2800" dirty="0"/>
          </a:p>
          <a:p>
            <a:pPr marL="457200" indent="-457200" algn="just">
              <a:buFont typeface="Wingdings" panose="05000000000000000000" pitchFamily="2" charset="2"/>
              <a:buChar char="q"/>
            </a:pPr>
            <a:r>
              <a:rPr lang="en-US" sz="2800" dirty="0"/>
              <a:t>Results are generated </a:t>
            </a:r>
            <a:r>
              <a:rPr lang="en-US" sz="2800" b="1" dirty="0"/>
              <a:t>instantly after exam submission</a:t>
            </a:r>
            <a:r>
              <a:rPr lang="en-US" sz="2800" dirty="0"/>
              <a:t>.</a:t>
            </a:r>
          </a:p>
          <a:p>
            <a:pPr marL="457200" indent="-457200" algn="just">
              <a:buFont typeface="Wingdings" panose="05000000000000000000" pitchFamily="2" charset="2"/>
              <a:buChar char="q"/>
            </a:pPr>
            <a:endParaRPr lang="en-US" sz="2800" dirty="0"/>
          </a:p>
          <a:p>
            <a:pPr marL="457200" indent="-457200" algn="just">
              <a:buFont typeface="Wingdings" panose="05000000000000000000" pitchFamily="2" charset="2"/>
              <a:buChar char="q"/>
            </a:pPr>
            <a:r>
              <a:rPr lang="en-US" sz="2800" dirty="0"/>
              <a:t>It reduces </a:t>
            </a:r>
            <a:r>
              <a:rPr lang="en-US" sz="2800" b="1" dirty="0"/>
              <a:t>manual work, time consumption, and human errors</a:t>
            </a:r>
            <a:r>
              <a:rPr lang="en-US" sz="2800" dirty="0"/>
              <a:t>.</a:t>
            </a:r>
          </a:p>
          <a:p>
            <a:pPr marL="457200" indent="-457200" algn="just">
              <a:buFont typeface="Wingdings" panose="05000000000000000000" pitchFamily="2" charset="2"/>
              <a:buChar char="q"/>
            </a:pPr>
            <a:endParaRPr lang="en-US" sz="2800" dirty="0"/>
          </a:p>
          <a:p>
            <a:pPr marL="457200" indent="-457200" algn="just">
              <a:buFont typeface="Wingdings" panose="05000000000000000000" pitchFamily="2" charset="2"/>
              <a:buChar char="q"/>
            </a:pPr>
            <a:r>
              <a:rPr lang="en-US" sz="2800" dirty="0"/>
              <a:t>The system is developed using </a:t>
            </a:r>
            <a:r>
              <a:rPr lang="en-US" sz="2800" b="1" dirty="0"/>
              <a:t>PHP, MySQL, HTML, CSS, and JavaScript</a:t>
            </a:r>
            <a:r>
              <a:rPr lang="en-US" sz="2800" dirty="0"/>
              <a:t>.</a:t>
            </a:r>
          </a:p>
          <a:p>
            <a:pPr marL="457200" indent="-457200" algn="just">
              <a:buFont typeface="Wingdings" panose="05000000000000000000" pitchFamily="2" charset="2"/>
              <a:buChar char="q"/>
            </a:pPr>
            <a:endParaRPr lang="en-US" sz="2800" dirty="0"/>
          </a:p>
          <a:p>
            <a:pPr marL="457200" indent="-457200" algn="just">
              <a:buFont typeface="Wingdings" panose="05000000000000000000" pitchFamily="2" charset="2"/>
              <a:buChar char="q"/>
            </a:pPr>
            <a:r>
              <a:rPr lang="en-US" sz="2800" dirty="0"/>
              <a:t>It is </a:t>
            </a:r>
            <a:r>
              <a:rPr lang="en-US" sz="2800" b="1" dirty="0"/>
              <a:t>simple, efficient, and user-friendly</a:t>
            </a:r>
            <a:r>
              <a:rPr lang="en-US" sz="2800" dirty="0"/>
              <a:t> for both students and administrators.</a:t>
            </a:r>
          </a:p>
          <a:p>
            <a:pPr marL="457200" indent="-457200" algn="just">
              <a:buFont typeface="Wingdings" panose="05000000000000000000" pitchFamily="2" charset="2"/>
              <a:buChar char="q"/>
            </a:pPr>
            <a:endParaRPr lang="en-US" sz="28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endParaRPr lang="en-US" sz="28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Ø"/>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176975" y="1962419"/>
            <a:ext cx="15082325" cy="6986528"/>
          </a:xfrm>
          <a:prstGeom prst="rect">
            <a:avLst/>
          </a:prstGeom>
          <a:noFill/>
        </p:spPr>
        <p:txBody>
          <a:bodyPr wrap="square" rtlCol="0">
            <a:spAutoFit/>
          </a:bodyPr>
          <a:lstStyle/>
          <a:p>
            <a:pPr algn="just"/>
            <a:r>
              <a:rPr lang="en-US" sz="3200" dirty="0"/>
              <a:t>In traditional examination systems, the entire process is carried out manually, which makes it time-consuming and inefficient. The preparation of question papers, distribution, and evaluation of answer sheets require significant effort and resources. Manual checking of papers often leads to human errors, affecting the accuracy and reliability of results. Additionally, the process of result generation is slow, causing delays for students.</a:t>
            </a:r>
          </a:p>
          <a:p>
            <a:r>
              <a:rPr lang="en-US" sz="3200" dirty="0"/>
              <a:t>Paper-based exams also involve high costs due to printing and require proper storage and management of physical records, which can be difficult to maintain and prone to damage or loss. Moreover, traditional systems lack flexibility, as students must be physically present to attend exams, making it inconvenient in certain situations.</a:t>
            </a:r>
          </a:p>
          <a:p>
            <a:r>
              <a:rPr lang="en-US" sz="3200" dirty="0"/>
              <a:t>There is also a lack of proper security in handling question papers and answer sheets, increasing the risk of malpractice. Furthermore, tracking student performance and maintaining records manually is complex and inefficient. Therefore, there is a need for an automated, secure, and efficient system that can simplify the examination process and provide quick and accurate results.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057400" y="3091777"/>
            <a:ext cx="15082325" cy="1815882"/>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To develop a </a:t>
            </a:r>
            <a:r>
              <a:rPr lang="en-US" sz="2800" b="1" dirty="0"/>
              <a:t>web-based platform</a:t>
            </a:r>
            <a:r>
              <a:rPr lang="en-US" sz="2800" dirty="0"/>
              <a:t> for conducting online exams.</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To provide </a:t>
            </a:r>
            <a:r>
              <a:rPr lang="en-US" sz="2800" b="1" dirty="0"/>
              <a:t>secure user authentication</a:t>
            </a:r>
            <a:r>
              <a:rPr lang="en-US" sz="2800" dirty="0"/>
              <a:t> (login &amp; registration).</a:t>
            </a:r>
          </a:p>
          <a:p>
            <a:pPr marL="457200" indent="-457200">
              <a:buFont typeface="Wingdings" panose="05000000000000000000" pitchFamily="2" charset="2"/>
              <a:buChar char="q"/>
            </a:pP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6924973"/>
          </a:xfrm>
          <a:prstGeom prst="rect">
            <a:avLst/>
          </a:prstGeom>
          <a:noFill/>
        </p:spPr>
        <p:txBody>
          <a:bodyPr wrap="square" rtlCol="0">
            <a:spAutoFit/>
          </a:bodyPr>
          <a:lstStyle/>
          <a:p>
            <a:pPr marL="457200" indent="-457200">
              <a:buFont typeface="Wingdings" panose="05000000000000000000" pitchFamily="2" charset="2"/>
              <a:buChar char="q"/>
            </a:pPr>
            <a:r>
              <a:rPr lang="en-IN" sz="2400" b="1" dirty="0"/>
              <a:t>Complete Online Exam Solution </a:t>
            </a:r>
            <a:r>
              <a:rPr lang="en-US" sz="2200" b="1" dirty="0"/>
              <a:t>- </a:t>
            </a:r>
            <a:r>
              <a:rPr lang="en-US" sz="2400" dirty="0"/>
              <a:t>The Online Exam System is a web-based platform designed to conduct examinations digitally. It provides features such as user registration, login, question management, timed exams, and automatic result generation—everything needed for a modern examination system.</a:t>
            </a:r>
          </a:p>
          <a:p>
            <a:pPr marL="457200" indent="-457200">
              <a:buFont typeface="Wingdings" panose="05000000000000000000" pitchFamily="2" charset="2"/>
              <a:buChar char="q"/>
            </a:pPr>
            <a:endParaRPr lang="en-US" sz="2200" dirty="0"/>
          </a:p>
          <a:p>
            <a:pPr marL="457200" indent="-457200">
              <a:buFont typeface="Wingdings" panose="05000000000000000000" pitchFamily="2" charset="2"/>
              <a:buChar char="q"/>
            </a:pPr>
            <a:r>
              <a:rPr lang="en-IN" sz="2400" b="1" dirty="0"/>
              <a:t>Dynamic Question Management </a:t>
            </a:r>
            <a:r>
              <a:rPr lang="en-US" sz="2200" b="1" dirty="0"/>
              <a:t>- </a:t>
            </a:r>
            <a:r>
              <a:rPr lang="en-US" sz="2400" dirty="0"/>
              <a:t>Questions are stored in a MySQL database and displayed dynamically during the exam. Admin can easily add, update, or delete questions.</a:t>
            </a:r>
          </a:p>
          <a:p>
            <a:pPr marL="457200" indent="-457200">
              <a:buFont typeface="Wingdings" panose="05000000000000000000" pitchFamily="2" charset="2"/>
              <a:buChar char="q"/>
            </a:pPr>
            <a:endParaRPr lang="en-US" sz="2200" dirty="0"/>
          </a:p>
          <a:p>
            <a:pPr marL="457200" indent="-457200">
              <a:buFont typeface="Wingdings" panose="05000000000000000000" pitchFamily="2" charset="2"/>
              <a:buChar char="q"/>
            </a:pPr>
            <a:r>
              <a:rPr lang="en-IN" sz="2200" b="1" dirty="0"/>
              <a:t> </a:t>
            </a:r>
            <a:r>
              <a:rPr lang="en-IN" sz="2400" b="1" dirty="0"/>
              <a:t>Secure User Authentication </a:t>
            </a:r>
            <a:r>
              <a:rPr lang="en-IN" sz="2200" b="1" dirty="0"/>
              <a:t>- </a:t>
            </a:r>
            <a:r>
              <a:rPr lang="en-US" sz="2400" dirty="0"/>
              <a:t>The system includes a secure login and registration module with session management. It ensures that only authorized users can access the exam and prevents unauthorized access.</a:t>
            </a:r>
            <a:r>
              <a:rPr lang="en-IN" sz="2200" b="1" dirty="0"/>
              <a:t> </a:t>
            </a:r>
          </a:p>
          <a:p>
            <a:pPr marL="457200" indent="-457200">
              <a:buFont typeface="Wingdings" panose="05000000000000000000" pitchFamily="2" charset="2"/>
              <a:buChar char="q"/>
            </a:pPr>
            <a:endParaRPr lang="en-IN" sz="2200" b="1" dirty="0"/>
          </a:p>
          <a:p>
            <a:pPr marL="457200" indent="-457200">
              <a:buFont typeface="Wingdings" panose="05000000000000000000" pitchFamily="2" charset="2"/>
              <a:buChar char="q"/>
            </a:pPr>
            <a:r>
              <a:rPr lang="en-IN" sz="2200" b="1" dirty="0"/>
              <a:t> </a:t>
            </a:r>
            <a:r>
              <a:rPr lang="en-IN" sz="2400" b="1" dirty="0"/>
              <a:t>Timer-Based Examination </a:t>
            </a:r>
            <a:r>
              <a:rPr lang="en-IN" sz="2200" b="1" dirty="0"/>
              <a:t>- </a:t>
            </a:r>
            <a:r>
              <a:rPr lang="en-US" sz="2400" dirty="0"/>
              <a:t>Each exam is conducted with a predefined time limit. The system automatically submits the exam when the time is completed.</a:t>
            </a:r>
            <a:endParaRPr lang="en-US" sz="2200" dirty="0"/>
          </a:p>
          <a:p>
            <a:pPr marL="457200" indent="-457200">
              <a:buFont typeface="Wingdings" panose="05000000000000000000" pitchFamily="2" charset="2"/>
              <a:buChar char="q"/>
            </a:pPr>
            <a:endParaRPr lang="en-US" sz="2200" dirty="0"/>
          </a:p>
          <a:p>
            <a:pPr marL="457200" indent="-457200">
              <a:buFont typeface="Wingdings" panose="05000000000000000000" pitchFamily="2" charset="2"/>
              <a:buChar char="q"/>
            </a:pPr>
            <a:r>
              <a:rPr lang="en-IN" sz="2400" b="1" dirty="0"/>
              <a:t>Automatic Evaluation &amp; Instant Results</a:t>
            </a:r>
            <a:r>
              <a:rPr lang="en-IN" sz="2200" b="1" dirty="0"/>
              <a:t> – </a:t>
            </a:r>
            <a:r>
              <a:rPr lang="en-US" sz="2400" dirty="0"/>
              <a:t>The system automatically evaluates answers and generates results instantly after submission, ensuring accuracy and saving time.</a:t>
            </a:r>
          </a:p>
          <a:p>
            <a:pPr marL="457200" indent="-457200">
              <a:buFont typeface="Wingdings" panose="05000000000000000000" pitchFamily="2" charset="2"/>
              <a:buChar char="q"/>
            </a:pPr>
            <a:endParaRPr lang="en-IN" sz="2200" b="1" dirty="0"/>
          </a:p>
          <a:p>
            <a:pPr marL="457200" indent="-457200">
              <a:buFont typeface="Wingdings" panose="05000000000000000000" pitchFamily="2" charset="2"/>
              <a:buChar char="q"/>
            </a:pPr>
            <a:r>
              <a:rPr lang="en-IN" sz="2400" b="1" dirty="0"/>
              <a:t>Data Management-</a:t>
            </a:r>
            <a:r>
              <a:rPr lang="en-US" sz="2400" dirty="0"/>
              <a:t>All student details, questions, and results are stored securely in the database, making it easy to manage and retrieve information.</a:t>
            </a:r>
            <a:endParaRPr lang="en-IN" sz="2200" b="1" dirty="0"/>
          </a:p>
          <a:p>
            <a:pPr marL="457200" indent="-457200">
              <a:buFont typeface="Wingdings" panose="05000000000000000000" pitchFamily="2" charset="2"/>
              <a:buChar char="q"/>
            </a:pPr>
            <a:endParaRPr lang="en-IN" sz="22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66422" y="29911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FFC8CC3-E4CF-AD2C-EC77-5AF28A36F3EA}"/>
              </a:ext>
            </a:extLst>
          </p:cNvPr>
          <p:cNvGraphicFramePr>
            <a:graphicFrameLocks noGrp="1"/>
          </p:cNvGraphicFramePr>
          <p:nvPr>
            <p:extLst>
              <p:ext uri="{D42A27DB-BD31-4B8C-83A1-F6EECF244321}">
                <p14:modId xmlns:p14="http://schemas.microsoft.com/office/powerpoint/2010/main" val="2955218122"/>
              </p:ext>
            </p:extLst>
          </p:nvPr>
        </p:nvGraphicFramePr>
        <p:xfrm>
          <a:off x="9843822" y="4480957"/>
          <a:ext cx="8229600" cy="5478858"/>
        </p:xfrm>
        <a:graphic>
          <a:graphicData uri="http://schemas.openxmlformats.org/drawingml/2006/table">
            <a:tbl>
              <a:tblPr/>
              <a:tblGrid>
                <a:gridCol w="4114800">
                  <a:extLst>
                    <a:ext uri="{9D8B030D-6E8A-4147-A177-3AD203B41FA5}">
                      <a16:colId xmlns:a16="http://schemas.microsoft.com/office/drawing/2014/main" val="4200059001"/>
                    </a:ext>
                  </a:extLst>
                </a:gridCol>
                <a:gridCol w="4114800">
                  <a:extLst>
                    <a:ext uri="{9D8B030D-6E8A-4147-A177-3AD203B41FA5}">
                      <a16:colId xmlns:a16="http://schemas.microsoft.com/office/drawing/2014/main" val="2859516394"/>
                    </a:ext>
                  </a:extLst>
                </a:gridCol>
              </a:tblGrid>
              <a:tr h="582346">
                <a:tc>
                  <a:txBody>
                    <a:bodyPr/>
                    <a:lstStyle/>
                    <a:p>
                      <a:pPr algn="l">
                        <a:buNone/>
                      </a:pPr>
                      <a:r>
                        <a:rPr lang="en-IN" sz="2000" dirty="0">
                          <a:effectLst/>
                          <a:latin typeface="Cambria" panose="02040503050406030204" pitchFamily="18" charset="0"/>
                          <a:ea typeface="Cambria" panose="02040503050406030204" pitchFamily="18" charset="0"/>
                        </a:rPr>
                        <a:t>Component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noFill/>
                  </a:tcPr>
                </a:tc>
                <a:tc>
                  <a:txBody>
                    <a:bodyPr/>
                    <a:lstStyle/>
                    <a:p>
                      <a:pPr algn="l">
                        <a:buNone/>
                      </a:pPr>
                      <a:r>
                        <a:rPr lang="en-IN" sz="2000">
                          <a:effectLst/>
                          <a:latin typeface="Cambria" panose="02040503050406030204" pitchFamily="18" charset="0"/>
                          <a:ea typeface="Cambria" panose="02040503050406030204" pitchFamily="18" charset="0"/>
                        </a:rPr>
                        <a:t>Definition</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3792118211"/>
                  </a:ext>
                </a:extLst>
              </a:tr>
              <a:tr h="1007301">
                <a:tc>
                  <a:txBody>
                    <a:bodyPr/>
                    <a:lstStyle/>
                    <a:p>
                      <a:pPr algn="l">
                        <a:buNone/>
                      </a:pPr>
                      <a:r>
                        <a:rPr lang="en-IN" sz="2000" dirty="0">
                          <a:effectLst/>
                          <a:latin typeface="Cambria" panose="02040503050406030204" pitchFamily="18" charset="0"/>
                          <a:ea typeface="Cambria" panose="02040503050406030204" pitchFamily="18" charset="0"/>
                        </a:rPr>
                        <a:t>INPUT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algn="l">
                        <a:buNone/>
                      </a:pPr>
                      <a:r>
                        <a:rPr lang="en-US" sz="2000" dirty="0">
                          <a:effectLst/>
                          <a:latin typeface="Cambria" panose="02040503050406030204" pitchFamily="18" charset="0"/>
                          <a:ea typeface="Cambria" panose="02040503050406030204" pitchFamily="18" charset="0"/>
                        </a:rPr>
                        <a:t>User actions like clicks, form submissions, and page requests that trigger the system</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1199439889"/>
                  </a:ext>
                </a:extLst>
              </a:tr>
              <a:tr h="1007301">
                <a:tc>
                  <a:txBody>
                    <a:bodyPr/>
                    <a:lstStyle/>
                    <a:p>
                      <a:pPr algn="l">
                        <a:buNone/>
                      </a:pPr>
                      <a:r>
                        <a:rPr lang="en-IN" sz="2000" dirty="0">
                          <a:effectLst/>
                          <a:latin typeface="Cambria" panose="02040503050406030204" pitchFamily="18" charset="0"/>
                          <a:ea typeface="Cambria" panose="02040503050406030204" pitchFamily="18" charset="0"/>
                        </a:rPr>
                        <a:t>PROCESSING</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a:buNone/>
                      </a:pPr>
                      <a:r>
                        <a:rPr lang="en-US" sz="2000">
                          <a:effectLst/>
                          <a:latin typeface="Cambria" panose="02040503050406030204" pitchFamily="18" charset="0"/>
                          <a:ea typeface="Cambria" panose="02040503050406030204" pitchFamily="18" charset="0"/>
                        </a:rPr>
                        <a:t>PHP logic that validates, calculates, and decides what action to take based on input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4236162678"/>
                  </a:ext>
                </a:extLst>
              </a:tr>
              <a:tr h="1432256">
                <a:tc>
                  <a:txBody>
                    <a:bodyPr/>
                    <a:lstStyle/>
                    <a:p>
                      <a:pPr algn="l">
                        <a:buNone/>
                      </a:pPr>
                      <a:r>
                        <a:rPr lang="en-IN" sz="2000" dirty="0">
                          <a:effectLst/>
                          <a:latin typeface="Cambria" panose="02040503050406030204" pitchFamily="18" charset="0"/>
                          <a:ea typeface="Cambria" panose="02040503050406030204" pitchFamily="18" charset="0"/>
                        </a:rPr>
                        <a:t>DATABASE</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algn="l">
                        <a:buNone/>
                      </a:pPr>
                      <a:r>
                        <a:rPr lang="en-US" sz="2000" dirty="0">
                          <a:effectLst/>
                          <a:latin typeface="Cambria" panose="02040503050406030204" pitchFamily="18" charset="0"/>
                          <a:ea typeface="Cambria" panose="02040503050406030204" pitchFamily="18" charset="0"/>
                        </a:rPr>
                        <a:t>MySQL storage that permanently saves and retrieves user data, products, and </a:t>
                      </a:r>
                      <a:r>
                        <a:rPr lang="en-US" sz="2000" dirty="0" err="1">
                          <a:effectLst/>
                          <a:latin typeface="Cambria" panose="02040503050406030204" pitchFamily="18" charset="0"/>
                          <a:ea typeface="Cambria" panose="02040503050406030204" pitchFamily="18" charset="0"/>
                        </a:rPr>
                        <a:t>wishlist</a:t>
                      </a:r>
                      <a:r>
                        <a:rPr lang="en-US" sz="2000" dirty="0">
                          <a:effectLst/>
                          <a:latin typeface="Cambria" panose="02040503050406030204" pitchFamily="18" charset="0"/>
                          <a:ea typeface="Cambria" panose="02040503050406030204" pitchFamily="18" charset="0"/>
                        </a:rPr>
                        <a:t> items</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453255678"/>
                  </a:ext>
                </a:extLst>
              </a:tr>
              <a:tr h="1432256">
                <a:tc>
                  <a:txBody>
                    <a:bodyPr/>
                    <a:lstStyle/>
                    <a:p>
                      <a:pPr algn="l">
                        <a:buNone/>
                      </a:pPr>
                      <a:r>
                        <a:rPr lang="en-IN" sz="2000">
                          <a:effectLst/>
                          <a:latin typeface="Cambria" panose="02040503050406030204" pitchFamily="18" charset="0"/>
                          <a:ea typeface="Cambria" panose="02040503050406030204" pitchFamily="18" charset="0"/>
                        </a:rPr>
                        <a:t>OUTPUT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a:buNone/>
                      </a:pPr>
                      <a:r>
                        <a:rPr lang="en-US" sz="2000" dirty="0">
                          <a:effectLst/>
                          <a:latin typeface="Cambria" panose="02040503050406030204" pitchFamily="18" charset="0"/>
                          <a:ea typeface="Cambria" panose="02040503050406030204" pitchFamily="18" charset="0"/>
                        </a:rPr>
                        <a:t>Dynamic HTML pages, success/error messages, and updated content displayed to user</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445973469"/>
                  </a:ext>
                </a:extLst>
              </a:tr>
            </a:tbl>
          </a:graphicData>
        </a:graphic>
      </p:graphicFrame>
      <p:sp>
        <p:nvSpPr>
          <p:cNvPr id="35" name="AutoShape 4">
            <a:extLst>
              <a:ext uri="{FF2B5EF4-FFF2-40B4-BE49-F238E27FC236}">
                <a16:creationId xmlns:a16="http://schemas.microsoft.com/office/drawing/2014/main" id="{7E01A286-A9AB-93AC-7BFD-C0A526702651}"/>
              </a:ext>
            </a:extLst>
          </p:cNvPr>
          <p:cNvSpPr>
            <a:spLocks noChangeAspect="1" noChangeArrowheads="1"/>
          </p:cNvSpPr>
          <p:nvPr/>
        </p:nvSpPr>
        <p:spPr bwMode="auto">
          <a:xfrm>
            <a:off x="2209800" y="2324100"/>
            <a:ext cx="7086600" cy="6477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6" name="Picture 35">
            <a:extLst>
              <a:ext uri="{FF2B5EF4-FFF2-40B4-BE49-F238E27FC236}">
                <a16:creationId xmlns:a16="http://schemas.microsoft.com/office/drawing/2014/main" id="{7B2B4E7E-F642-636F-3869-4B75A33ACF7F}"/>
              </a:ext>
            </a:extLst>
          </p:cNvPr>
          <p:cNvPicPr>
            <a:picLocks noChangeAspect="1"/>
          </p:cNvPicPr>
          <p:nvPr/>
        </p:nvPicPr>
        <p:blipFill>
          <a:blip r:embed="rId4"/>
          <a:stretch>
            <a:fillRect/>
          </a:stretch>
        </p:blipFill>
        <p:spPr>
          <a:xfrm>
            <a:off x="8991587" y="4991087"/>
            <a:ext cx="304826" cy="304826"/>
          </a:xfrm>
          <a:prstGeom prst="rect">
            <a:avLst/>
          </a:prstGeom>
        </p:spPr>
      </p:pic>
      <p:pic>
        <p:nvPicPr>
          <p:cNvPr id="44" name="Picture 43">
            <a:extLst>
              <a:ext uri="{FF2B5EF4-FFF2-40B4-BE49-F238E27FC236}">
                <a16:creationId xmlns:a16="http://schemas.microsoft.com/office/drawing/2014/main" id="{E9CEBEA4-59FC-44DF-5669-3A470806C706}"/>
              </a:ext>
            </a:extLst>
          </p:cNvPr>
          <p:cNvPicPr>
            <a:picLocks noChangeAspect="1"/>
          </p:cNvPicPr>
          <p:nvPr/>
        </p:nvPicPr>
        <p:blipFill>
          <a:blip r:embed="rId5">
            <a:extLst>
              <a:ext uri="{28A0092B-C50C-407E-A947-70E740481C1C}">
                <a14:useLocalDpi xmlns:a14="http://schemas.microsoft.com/office/drawing/2010/main" val="0"/>
              </a:ext>
            </a:extLst>
          </a:blip>
          <a:srcRect t="2924" b="2924"/>
          <a:stretch>
            <a:fillRect/>
          </a:stretch>
        </p:blipFill>
        <p:spPr>
          <a:xfrm>
            <a:off x="2374149" y="2171699"/>
            <a:ext cx="5634272" cy="59436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EF69C3F-AA26-3FF2-EE3C-33F1CE57BF1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286000" y="2760349"/>
            <a:ext cx="15266412" cy="4456793"/>
          </a:xfrm>
          <a:prstGeom prst="rect">
            <a:avLst/>
          </a:prstGeom>
        </p:spPr>
      </p:pic>
      <p:pic>
        <p:nvPicPr>
          <p:cNvPr id="10" name="Picture 9">
            <a:extLst>
              <a:ext uri="{FF2B5EF4-FFF2-40B4-BE49-F238E27FC236}">
                <a16:creationId xmlns:a16="http://schemas.microsoft.com/office/drawing/2014/main" id="{AD442165-FF05-A36F-5C53-C7537C7223AC}"/>
              </a:ext>
            </a:extLst>
          </p:cNvPr>
          <p:cNvPicPr>
            <a:picLocks noChangeAspect="1"/>
          </p:cNvPicPr>
          <p:nvPr/>
        </p:nvPicPr>
        <p:blipFill>
          <a:blip r:embed="rId5"/>
          <a:srcRect t="15332" b="19811"/>
          <a:stretch>
            <a:fillRect/>
          </a:stretch>
        </p:blipFill>
        <p:spPr>
          <a:xfrm>
            <a:off x="5562600" y="2015465"/>
            <a:ext cx="6858000" cy="62382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6986528"/>
          </a:xfrm>
          <a:prstGeom prst="rect">
            <a:avLst/>
          </a:prstGeom>
          <a:noFill/>
        </p:spPr>
        <p:txBody>
          <a:bodyPr wrap="square" rtlCol="0">
            <a:spAutoFit/>
          </a:bodyPr>
          <a:lstStyle/>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FRONTEND – HTML5 , CSS , JavaScript</a:t>
            </a:r>
          </a:p>
          <a:p>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BACKEND -  PHP</a:t>
            </a:r>
          </a:p>
          <a:p>
            <a:pPr marL="457200" indent="-457200">
              <a:buFont typeface="Wingdings" panose="05000000000000000000" pitchFamily="2" charset="2"/>
              <a:buChar char="q"/>
            </a:pPr>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DATABASE – MySQL (phpMyAdmin)</a:t>
            </a:r>
          </a:p>
          <a:p>
            <a:pPr marL="457200" indent="-457200">
              <a:buFont typeface="Wingdings" panose="05000000000000000000" pitchFamily="2" charset="2"/>
              <a:buChar char="q"/>
            </a:pPr>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TOOLS – XAMPP , Visual Studio Code , Google Chrome</a:t>
            </a:r>
          </a:p>
          <a:p>
            <a:pPr marL="457200" indent="-457200">
              <a:buFont typeface="Wingdings" panose="05000000000000000000" pitchFamily="2" charset="2"/>
              <a:buChar char="q"/>
            </a:pPr>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HARDWARE REQUIREMENTS -  Intel Core i3 Processor, 4GB RAM </a:t>
            </a:r>
          </a:p>
          <a:p>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SOFTWARE REQUIREMENTS - Windows/Linux/macOS , Apache Server , PHP 7.4+ , MySQL 5.7+ , </a:t>
            </a:r>
            <a:r>
              <a:rPr lang="en-US" sz="2600" b="1" dirty="0">
                <a:latin typeface="Cambria" panose="02040503050406030204" pitchFamily="18" charset="0"/>
                <a:ea typeface="Cambria" panose="02040503050406030204" pitchFamily="18" charset="0"/>
              </a:rPr>
              <a:t>Web Browser (Chrome/Firefox/Edge)</a:t>
            </a:r>
            <a:br>
              <a:rPr lang="en-US" dirty="0"/>
            </a:br>
            <a:endParaRPr lang="en-IN" dirty="0"/>
          </a:p>
          <a:p>
            <a:pPr marL="457200" indent="-457200">
              <a:buFont typeface="Wingdings" panose="05000000000000000000" pitchFamily="2" charset="2"/>
              <a:buChar char="q"/>
            </a:pPr>
            <a:endParaRPr lang="en-IN" dirty="0"/>
          </a:p>
          <a:p>
            <a:pPr marL="457200" indent="-457200">
              <a:buFont typeface="Wingdings" panose="05000000000000000000" pitchFamily="2" charset="2"/>
              <a:buChar char="q"/>
            </a:pPr>
            <a:endParaRPr lang="en-IN" dirty="0"/>
          </a:p>
          <a:p>
            <a:br>
              <a:rPr lang="en-IN" dirty="0"/>
            </a:br>
            <a:endParaRPr lang="en-IN" dirty="0"/>
          </a:p>
          <a:p>
            <a:pPr marL="457200" indent="-457200">
              <a:buFont typeface="Wingdings" panose="05000000000000000000" pitchFamily="2" charset="2"/>
              <a:buChar char="q"/>
            </a:pPr>
            <a:endParaRPr lang="en-IN" b="1" dirty="0"/>
          </a:p>
          <a:p>
            <a:pPr marL="457200" indent="-457200">
              <a:buFont typeface="Wingdings" panose="05000000000000000000" pitchFamily="2" charset="2"/>
              <a:buChar char="q"/>
            </a:pPr>
            <a:endParaRPr lang="en-IN" sz="280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51100" y="1190855"/>
            <a:ext cx="15082325" cy="8279190"/>
          </a:xfrm>
          <a:prstGeom prst="rect">
            <a:avLst/>
          </a:prstGeom>
          <a:noFill/>
        </p:spPr>
        <p:txBody>
          <a:bodyPr wrap="square" rtlCol="0">
            <a:spAutoFit/>
          </a:bodyPr>
          <a:lstStyle/>
          <a:p>
            <a:endParaRPr lang="en-IN" sz="2800" dirty="0"/>
          </a:p>
          <a:p>
            <a:endParaRPr lang="en-IN" sz="2800" dirty="0"/>
          </a:p>
          <a:p>
            <a:r>
              <a:rPr lang="en-US" sz="2800" b="1" dirty="0"/>
              <a:t>Module 1: User Management &amp; Authentication</a:t>
            </a:r>
            <a:r>
              <a:rPr lang="en-US" sz="2800" dirty="0"/>
              <a:t> Handles user registration and login functionality with secure session management. Ensures only authorized users can access the exam using frontend validation and backend authentication.</a:t>
            </a:r>
          </a:p>
          <a:p>
            <a:endParaRPr lang="en-US" sz="2800" dirty="0"/>
          </a:p>
          <a:p>
            <a:r>
              <a:rPr lang="en-US" sz="2800" b="1" dirty="0"/>
              <a:t>Module 2: Question &amp; Exam Management</a:t>
            </a:r>
          </a:p>
          <a:p>
            <a:r>
              <a:rPr lang="en-US" sz="2800" dirty="0"/>
              <a:t>Manages the creation, storage, and retrieval of exam questions from the database. Displays questions dynamically to users during the exam and supports multiple options with predefined correct answers.</a:t>
            </a:r>
          </a:p>
          <a:p>
            <a:endParaRPr lang="en-US" sz="2800" dirty="0"/>
          </a:p>
          <a:p>
            <a:r>
              <a:rPr lang="en-US" sz="2800" b="1" dirty="0"/>
              <a:t>Module 3: Exam Execution &amp; Evaluation</a:t>
            </a:r>
          </a:p>
          <a:p>
            <a:r>
              <a:rPr lang="en-US" sz="2800" dirty="0"/>
              <a:t>Handles the core exam process including timer-based test execution, answer selection, and automatic submission. Implements evaluation logic to calculate scores instantly based on correct answers.</a:t>
            </a:r>
          </a:p>
          <a:p>
            <a:endParaRPr lang="en-US" sz="2800" dirty="0"/>
          </a:p>
          <a:p>
            <a:r>
              <a:rPr lang="en-US" sz="2800" b="1" dirty="0"/>
              <a:t>Module 4: Database &amp; Security Logic</a:t>
            </a:r>
          </a:p>
          <a:p>
            <a:r>
              <a:rPr lang="en-US" sz="2800" dirty="0"/>
              <a:t>Ensures secure storage and management of data such as users, questions, and results. Performs database operations (CRUD) and maintains data integrity with proper validation and session handling.</a:t>
            </a:r>
          </a:p>
          <a:p>
            <a:endParaRPr lang="en-US" sz="2800" dirty="0"/>
          </a:p>
          <a:p>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1" name="TextBox 40">
            <a:extLst>
              <a:ext uri="{FF2B5EF4-FFF2-40B4-BE49-F238E27FC236}">
                <a16:creationId xmlns:a16="http://schemas.microsoft.com/office/drawing/2014/main" id="{D52E9303-E66E-602F-D954-98096C113917}"/>
              </a:ext>
            </a:extLst>
          </p:cNvPr>
          <p:cNvSpPr txBox="1"/>
          <p:nvPr/>
        </p:nvSpPr>
        <p:spPr>
          <a:xfrm>
            <a:off x="12420601" y="3140933"/>
            <a:ext cx="4191000" cy="3970318"/>
          </a:xfrm>
          <a:prstGeom prst="rect">
            <a:avLst/>
          </a:prstGeom>
          <a:noFill/>
        </p:spPr>
        <p:txBody>
          <a:bodyPr wrap="square" rtlCol="0">
            <a:spAutoFit/>
          </a:bodyPr>
          <a:lstStyle/>
          <a:p>
            <a:r>
              <a:rPr lang="en-IN" sz="2800" b="1" dirty="0">
                <a:latin typeface="Cambria" panose="02040503050406030204" pitchFamily="18" charset="0"/>
                <a:ea typeface="Cambria" panose="02040503050406030204" pitchFamily="18" charset="0"/>
              </a:rPr>
              <a:t>Home Page </a:t>
            </a:r>
            <a:r>
              <a:rPr lang="en-IN" sz="2800" dirty="0">
                <a:latin typeface="Cambria" panose="02040503050406030204" pitchFamily="18" charset="0"/>
                <a:ea typeface="Cambria" panose="02040503050406030204" pitchFamily="18" charset="0"/>
              </a:rPr>
              <a:t>–</a:t>
            </a:r>
            <a:r>
              <a:rPr lang="en-US" sz="2800" dirty="0"/>
              <a:t>Launches the website and provides an overview of the system features. Acts as the entry point for users, offering navigation to registration, login, and other key functionalities of the Online Exam System.</a:t>
            </a:r>
            <a:endParaRPr lang="en-IN" sz="28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4E641B31-F074-4A08-0074-9CF0B4CDF7EB}"/>
              </a:ext>
            </a:extLst>
          </p:cNvPr>
          <p:cNvPicPr>
            <a:picLocks noChangeAspect="1"/>
          </p:cNvPicPr>
          <p:nvPr/>
        </p:nvPicPr>
        <p:blipFill>
          <a:blip r:embed="rId4"/>
          <a:stretch>
            <a:fillRect/>
          </a:stretch>
        </p:blipFill>
        <p:spPr>
          <a:xfrm>
            <a:off x="1997328" y="1485900"/>
            <a:ext cx="8852178" cy="4166003"/>
          </a:xfrm>
          <a:prstGeom prst="rect">
            <a:avLst/>
          </a:prstGeom>
        </p:spPr>
      </p:pic>
      <p:pic>
        <p:nvPicPr>
          <p:cNvPr id="42" name="Picture 41">
            <a:extLst>
              <a:ext uri="{FF2B5EF4-FFF2-40B4-BE49-F238E27FC236}">
                <a16:creationId xmlns:a16="http://schemas.microsoft.com/office/drawing/2014/main" id="{2317A26E-779D-5DCC-84B4-CDF8240328A3}"/>
              </a:ext>
            </a:extLst>
          </p:cNvPr>
          <p:cNvPicPr>
            <a:picLocks noChangeAspect="1"/>
          </p:cNvPicPr>
          <p:nvPr/>
        </p:nvPicPr>
        <p:blipFill>
          <a:blip r:embed="rId5"/>
          <a:stretch>
            <a:fillRect/>
          </a:stretch>
        </p:blipFill>
        <p:spPr>
          <a:xfrm>
            <a:off x="1940523" y="5828930"/>
            <a:ext cx="9030483" cy="426757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9C032DF-B7FF-6C63-F8DA-7D3944169768}"/>
              </a:ext>
            </a:extLst>
          </p:cNvPr>
          <p:cNvPicPr>
            <a:picLocks noChangeAspect="1"/>
          </p:cNvPicPr>
          <p:nvPr/>
        </p:nvPicPr>
        <p:blipFill>
          <a:blip r:embed="rId4"/>
          <a:stretch>
            <a:fillRect/>
          </a:stretch>
        </p:blipFill>
        <p:spPr>
          <a:xfrm>
            <a:off x="5466178" y="1421165"/>
            <a:ext cx="7313171" cy="3913170"/>
          </a:xfrm>
          <a:prstGeom prst="rect">
            <a:avLst/>
          </a:prstGeom>
        </p:spPr>
      </p:pic>
      <p:pic>
        <p:nvPicPr>
          <p:cNvPr id="41" name="Picture 40">
            <a:extLst>
              <a:ext uri="{FF2B5EF4-FFF2-40B4-BE49-F238E27FC236}">
                <a16:creationId xmlns:a16="http://schemas.microsoft.com/office/drawing/2014/main" id="{10FE0ED7-708C-DB3A-1B07-8F56C3388DB7}"/>
              </a:ext>
            </a:extLst>
          </p:cNvPr>
          <p:cNvPicPr>
            <a:picLocks noChangeAspect="1"/>
          </p:cNvPicPr>
          <p:nvPr/>
        </p:nvPicPr>
        <p:blipFill>
          <a:blip r:embed="rId5"/>
          <a:stretch>
            <a:fillRect/>
          </a:stretch>
        </p:blipFill>
        <p:spPr>
          <a:xfrm>
            <a:off x="5517893" y="5581603"/>
            <a:ext cx="7282692" cy="407584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C74F774D-04D4-E3BA-C81A-3C8972AAF82B}"/>
              </a:ext>
            </a:extLst>
          </p:cNvPr>
          <p:cNvPicPr>
            <a:picLocks noChangeAspect="1"/>
          </p:cNvPicPr>
          <p:nvPr/>
        </p:nvPicPr>
        <p:blipFill>
          <a:blip r:embed="rId4"/>
          <a:stretch>
            <a:fillRect/>
          </a:stretch>
        </p:blipFill>
        <p:spPr>
          <a:xfrm>
            <a:off x="4809104" y="5862439"/>
            <a:ext cx="8625105" cy="3678285"/>
          </a:xfrm>
          <a:prstGeom prst="rect">
            <a:avLst/>
          </a:prstGeom>
        </p:spPr>
      </p:pic>
      <p:pic>
        <p:nvPicPr>
          <p:cNvPr id="4" name="Picture 3">
            <a:extLst>
              <a:ext uri="{FF2B5EF4-FFF2-40B4-BE49-F238E27FC236}">
                <a16:creationId xmlns:a16="http://schemas.microsoft.com/office/drawing/2014/main" id="{180FA219-9AF6-8F9F-A872-AB007E7F3B23}"/>
              </a:ext>
            </a:extLst>
          </p:cNvPr>
          <p:cNvPicPr>
            <a:picLocks noChangeAspect="1"/>
          </p:cNvPicPr>
          <p:nvPr/>
        </p:nvPicPr>
        <p:blipFill>
          <a:blip r:embed="rId5"/>
          <a:stretch>
            <a:fillRect/>
          </a:stretch>
        </p:blipFill>
        <p:spPr>
          <a:xfrm>
            <a:off x="4809104" y="1310936"/>
            <a:ext cx="8625105" cy="407584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06D49E-BE02-0A18-DD8A-BE64B12B917C}"/>
              </a:ext>
            </a:extLst>
          </p:cNvPr>
          <p:cNvSpPr txBox="1"/>
          <p:nvPr/>
        </p:nvSpPr>
        <p:spPr>
          <a:xfrm>
            <a:off x="2246404" y="1820273"/>
            <a:ext cx="14050370" cy="5940088"/>
          </a:xfrm>
          <a:prstGeom prst="rect">
            <a:avLst/>
          </a:prstGeom>
          <a:noFill/>
        </p:spPr>
        <p:txBody>
          <a:bodyPr wrap="square">
            <a:spAutoFit/>
          </a:bodyPr>
          <a:lstStyle/>
          <a:p>
            <a:pPr algn="just">
              <a:buNone/>
            </a:pPr>
            <a:r>
              <a:rPr lang="en-US" sz="2000" b="1" dirty="0">
                <a:latin typeface="Cambria" panose="02040503050406030204" pitchFamily="18" charset="0"/>
                <a:ea typeface="Cambria" panose="02040503050406030204" pitchFamily="18" charset="0"/>
              </a:rPr>
              <a:t>Advantages </a:t>
            </a:r>
          </a:p>
          <a:p>
            <a:pPr algn="just">
              <a:buNone/>
            </a:pPr>
            <a:endParaRPr lang="en-US" sz="2000" dirty="0">
              <a:latin typeface="Cambria" panose="02040503050406030204" pitchFamily="18" charset="0"/>
              <a:ea typeface="Cambria" panose="02040503050406030204" pitchFamily="18" charset="0"/>
            </a:endParaRPr>
          </a:p>
          <a:p>
            <a:pPr algn="just">
              <a:buNone/>
            </a:pPr>
            <a:r>
              <a:rPr lang="en-US" sz="2000" b="1" dirty="0"/>
              <a:t>Secure Data Handling:</a:t>
            </a:r>
            <a:r>
              <a:rPr lang="en-US" sz="2000" dirty="0"/>
              <a:t> Protects user information through session management and backend validation, reducing risks like unauthorized access and SQL injection.</a:t>
            </a:r>
          </a:p>
          <a:p>
            <a:pPr algn="just">
              <a:buNone/>
            </a:pPr>
            <a:endParaRPr lang="en-US" sz="2000" dirty="0">
              <a:latin typeface="Cambria" panose="02040503050406030204" pitchFamily="18" charset="0"/>
              <a:ea typeface="Cambria" panose="02040503050406030204" pitchFamily="18" charset="0"/>
            </a:endParaRPr>
          </a:p>
          <a:p>
            <a:pPr algn="just">
              <a:buNone/>
            </a:pPr>
            <a:r>
              <a:rPr lang="en-US" sz="2000" b="1" dirty="0"/>
              <a:t>Real-time Evaluation:</a:t>
            </a:r>
            <a:r>
              <a:rPr lang="en-US" sz="2000" dirty="0"/>
              <a:t> Automatically calculates scores and displays results instantly after exam submission, improving efficiency.</a:t>
            </a:r>
          </a:p>
          <a:p>
            <a:pPr algn="just">
              <a:buNone/>
            </a:pPr>
            <a:endParaRPr lang="en-US" sz="2000" dirty="0">
              <a:latin typeface="Cambria" panose="02040503050406030204" pitchFamily="18" charset="0"/>
              <a:ea typeface="Cambria" panose="02040503050406030204" pitchFamily="18" charset="0"/>
            </a:endParaRPr>
          </a:p>
          <a:p>
            <a:pPr algn="just">
              <a:buNone/>
            </a:pPr>
            <a:r>
              <a:rPr lang="en-US" sz="2000" b="1" dirty="0"/>
              <a:t>Efficient Exam Logic:</a:t>
            </a:r>
            <a:r>
              <a:rPr lang="en-US" sz="2000" dirty="0"/>
              <a:t> Streamlines the entire exam process with timer-based execution, dynamic question loading, and automatic submission.</a:t>
            </a:r>
            <a:endParaRPr lang="en-US" sz="2000" dirty="0">
              <a:latin typeface="Cambria" panose="02040503050406030204" pitchFamily="18" charset="0"/>
              <a:ea typeface="Cambria" panose="02040503050406030204" pitchFamily="18" charset="0"/>
            </a:endParaRPr>
          </a:p>
          <a:p>
            <a:pPr algn="just">
              <a:buNone/>
            </a:pPr>
            <a:endParaRPr lang="en-US" sz="2000" dirty="0">
              <a:latin typeface="Cambria" panose="02040503050406030204" pitchFamily="18" charset="0"/>
              <a:ea typeface="Cambria" panose="02040503050406030204" pitchFamily="18" charset="0"/>
            </a:endParaRPr>
          </a:p>
          <a:p>
            <a:pPr algn="just">
              <a:buNone/>
            </a:pPr>
            <a:r>
              <a:rPr lang="en-US" sz="2000" b="1" dirty="0">
                <a:latin typeface="Cambria" panose="02040503050406030204" pitchFamily="18" charset="0"/>
                <a:ea typeface="Cambria" panose="02040503050406030204" pitchFamily="18" charset="0"/>
              </a:rPr>
              <a:t>Limitations </a:t>
            </a:r>
          </a:p>
          <a:p>
            <a:pPr algn="just">
              <a:buNone/>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t>Limited Security Features:</a:t>
            </a:r>
            <a:r>
              <a:rPr lang="en-US" sz="2000" dirty="0"/>
              <a:t> Does not include advanced proctoring (like webcam monitoring or AI-based cheating detection)</a:t>
            </a:r>
            <a:r>
              <a:rPr lang="en-US" sz="2000" dirty="0">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t>No Offline Mode:</a:t>
            </a:r>
            <a:r>
              <a:rPr lang="en-US" sz="2000" dirty="0"/>
              <a:t> Requires continuous internet connection and server availability to conduct exams.</a:t>
            </a: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t>Basic Result Analysis:</a:t>
            </a:r>
            <a:r>
              <a:rPr lang="en-US" sz="2000" dirty="0"/>
              <a:t> Provides only score calculation without advanced analytics or performance insights</a:t>
            </a:r>
            <a:r>
              <a:rPr lang="en-US" sz="2000" dirty="0">
                <a:latin typeface="Cambria" panose="02040503050406030204" pitchFamily="18" charset="0"/>
                <a:ea typeface="Cambria" panose="02040503050406030204" pitchFamily="18" charset="0"/>
              </a:rPr>
              <a:t>.</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t>Scalability Constraints:</a:t>
            </a:r>
            <a:r>
              <a:rPr lang="en-US" sz="2000" dirty="0"/>
              <a:t> Designed for small-scale use; may require cloud infrastructure for handling large numbers of users.</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C6AE0355CC0A41B2A264A7C8DCCF1A" ma:contentTypeVersion="4" ma:contentTypeDescription="Create a new document." ma:contentTypeScope="" ma:versionID="30a4a8c4a2721bb647b48e2d4f6bfa23">
  <xsd:schema xmlns:xsd="http://www.w3.org/2001/XMLSchema" xmlns:xs="http://www.w3.org/2001/XMLSchema" xmlns:p="http://schemas.microsoft.com/office/2006/metadata/properties" xmlns:ns3="7b45ea3a-fd4c-41f1-8405-ea7d96d73368" targetNamespace="http://schemas.microsoft.com/office/2006/metadata/properties" ma:root="true" ma:fieldsID="4a5be21c1b54565b9def089a64817cc4" ns3:_="">
    <xsd:import namespace="7b45ea3a-fd4c-41f1-8405-ea7d96d7336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45ea3a-fd4c-41f1-8405-ea7d96d7336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B51FA1-DF8C-4EA6-8D10-F48A18C9CC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45ea3a-fd4c-41f1-8405-ea7d96d733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5D7E4B-AEA7-4805-B672-4252BEDF167D}">
  <ds:schemaRefs>
    <ds:schemaRef ds:uri="http://purl.org/dc/terms/"/>
    <ds:schemaRef ds:uri="http://purl.org/dc/elements/1.1/"/>
    <ds:schemaRef ds:uri="http://schemas.microsoft.com/office/2006/metadata/properties"/>
    <ds:schemaRef ds:uri="7b45ea3a-fd4c-41f1-8405-ea7d96d73368"/>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652FFAF8-9E5E-4EEC-926F-CB1053D479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869</TotalTime>
  <Words>1185</Words>
  <Application>Microsoft Office PowerPoint</Application>
  <PresentationFormat>Custom</PresentationFormat>
  <Paragraphs>257</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Bookman Old Style</vt:lpstr>
      <vt:lpstr>Arial</vt:lpstr>
      <vt:lpstr>Calibri</vt:lpstr>
      <vt:lpstr>Gotham Bold Italics</vt:lpstr>
      <vt:lpstr>Times New Roman</vt:lpstr>
      <vt:lpstr>Cambria</vt:lpstr>
      <vt:lpstr>Gotham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MADHUKSHA KURUMETI</dc:creator>
  <cp:lastModifiedBy>akhilnandhan1206@gmail.com</cp:lastModifiedBy>
  <cp:revision>12</cp:revision>
  <dcterms:created xsi:type="dcterms:W3CDTF">2006-08-16T00:00:00Z</dcterms:created>
  <dcterms:modified xsi:type="dcterms:W3CDTF">2026-03-25T03:57:12Z</dcterms:modified>
  <dc:identifier>DAHCaYqJ9OU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0x01010013C6AE0355CC0A41B2A264A7C8DCCF1A</vt:lpwstr>
  </property>
</Properties>
</file>